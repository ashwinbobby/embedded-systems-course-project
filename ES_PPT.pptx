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 id="258" r:id="rId3"/>
    <p:sldId id="259" r:id="rId4"/>
    <p:sldId id="260" r:id="rId5"/>
    <p:sldId id="261" r:id="rId6"/>
    <p:sldId id="262" r:id="rId7"/>
    <p:sldId id="263" r:id="rId8"/>
    <p:sldId id="264" r:id="rId9"/>
    <p:sldId id="265" r:id="rId10"/>
    <p:sldId id="267" r:id="rId11"/>
    <p:sldId id="266"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87374"/>
  </p:normalViewPr>
  <p:slideViewPr>
    <p:cSldViewPr snapToGrid="0">
      <p:cViewPr varScale="1">
        <p:scale>
          <a:sx n="105" d="100"/>
          <a:sy n="105" d="100"/>
        </p:scale>
        <p:origin x="103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06B86C87-94F2-B941-8117-C7B60E733D6F}" type="datetimeFigureOut">
              <a:rPr lang="en-US" smtClean="0"/>
              <a:t>4/17/26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41BF37-3B5A-4A4E-8CF5-EFAB2AB22179}" type="slidenum">
              <a:rPr lang="en-US" smtClean="0"/>
              <a:t>‹#›</a:t>
            </a:fld>
            <a:endParaRPr lang="en-US"/>
          </a:p>
        </p:txBody>
      </p:sp>
    </p:spTree>
    <p:extLst>
      <p:ext uri="{BB962C8B-B14F-4D97-AF65-F5344CB8AC3E}">
        <p14:creationId xmlns:p14="http://schemas.microsoft.com/office/powerpoint/2010/main" val="288754254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6B86C87-94F2-B941-8117-C7B60E733D6F}" type="datetimeFigureOut">
              <a:rPr lang="en-US" smtClean="0"/>
              <a:t>4/17/26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41BF37-3B5A-4A4E-8CF5-EFAB2AB22179}" type="slidenum">
              <a:rPr lang="en-US" smtClean="0"/>
              <a:t>‹#›</a:t>
            </a:fld>
            <a:endParaRPr lang="en-US"/>
          </a:p>
        </p:txBody>
      </p:sp>
    </p:spTree>
    <p:extLst>
      <p:ext uri="{BB962C8B-B14F-4D97-AF65-F5344CB8AC3E}">
        <p14:creationId xmlns:p14="http://schemas.microsoft.com/office/powerpoint/2010/main" val="1228979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06B86C87-94F2-B941-8117-C7B60E733D6F}" type="datetimeFigureOut">
              <a:rPr lang="en-US" smtClean="0"/>
              <a:t>4/17/26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41BF37-3B5A-4A4E-8CF5-EFAB2AB22179}" type="slidenum">
              <a:rPr lang="en-US" smtClean="0"/>
              <a:t>‹#›</a:t>
            </a:fld>
            <a:endParaRPr lang="en-US"/>
          </a:p>
        </p:txBody>
      </p:sp>
    </p:spTree>
    <p:extLst>
      <p:ext uri="{BB962C8B-B14F-4D97-AF65-F5344CB8AC3E}">
        <p14:creationId xmlns:p14="http://schemas.microsoft.com/office/powerpoint/2010/main" val="136412455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06B86C87-94F2-B941-8117-C7B60E733D6F}" type="datetimeFigureOut">
              <a:rPr lang="en-US" smtClean="0"/>
              <a:t>4/17/26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41BF37-3B5A-4A4E-8CF5-EFAB2AB22179}" type="slidenum">
              <a:rPr lang="en-US" smtClean="0"/>
              <a:t>‹#›</a:t>
            </a:fld>
            <a:endParaRPr lang="en-US"/>
          </a:p>
        </p:txBody>
      </p:sp>
    </p:spTree>
    <p:extLst>
      <p:ext uri="{BB962C8B-B14F-4D97-AF65-F5344CB8AC3E}">
        <p14:creationId xmlns:p14="http://schemas.microsoft.com/office/powerpoint/2010/main" val="1721015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06B86C87-94F2-B941-8117-C7B60E733D6F}" type="datetimeFigureOut">
              <a:rPr lang="en-US" smtClean="0"/>
              <a:t>4/17/26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41BF37-3B5A-4A4E-8CF5-EFAB2AB22179}" type="slidenum">
              <a:rPr lang="en-US" smtClean="0"/>
              <a:t>‹#›</a:t>
            </a:fld>
            <a:endParaRPr lang="en-US"/>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3698657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6B86C87-94F2-B941-8117-C7B60E733D6F}" type="datetimeFigureOut">
              <a:rPr lang="en-US" smtClean="0"/>
              <a:t>4/17/26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41BF37-3B5A-4A4E-8CF5-EFAB2AB22179}" type="slidenum">
              <a:rPr lang="en-US" smtClean="0"/>
              <a:t>‹#›</a:t>
            </a:fld>
            <a:endParaRPr lang="en-US"/>
          </a:p>
        </p:txBody>
      </p:sp>
    </p:spTree>
    <p:extLst>
      <p:ext uri="{BB962C8B-B14F-4D97-AF65-F5344CB8AC3E}">
        <p14:creationId xmlns:p14="http://schemas.microsoft.com/office/powerpoint/2010/main" val="1139556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B86C87-94F2-B941-8117-C7B60E733D6F}" type="datetimeFigureOut">
              <a:rPr lang="en-US" smtClean="0"/>
              <a:t>4/17/26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41BF37-3B5A-4A4E-8CF5-EFAB2AB22179}" type="slidenum">
              <a:rPr lang="en-US" smtClean="0"/>
              <a:t>‹#›</a:t>
            </a:fld>
            <a:endParaRPr lang="en-US"/>
          </a:p>
        </p:txBody>
      </p:sp>
    </p:spTree>
    <p:extLst>
      <p:ext uri="{BB962C8B-B14F-4D97-AF65-F5344CB8AC3E}">
        <p14:creationId xmlns:p14="http://schemas.microsoft.com/office/powerpoint/2010/main" val="2411831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06B86C87-94F2-B941-8117-C7B60E733D6F}" type="datetimeFigureOut">
              <a:rPr lang="en-US" smtClean="0"/>
              <a:t>4/17/26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B641BF37-3B5A-4A4E-8CF5-EFAB2AB22179}" type="slidenum">
              <a:rPr lang="en-US" smtClean="0"/>
              <a:t>‹#›</a:t>
            </a:fld>
            <a:endParaRPr lang="en-US"/>
          </a:p>
        </p:txBody>
      </p:sp>
    </p:spTree>
    <p:extLst>
      <p:ext uri="{BB962C8B-B14F-4D97-AF65-F5344CB8AC3E}">
        <p14:creationId xmlns:p14="http://schemas.microsoft.com/office/powerpoint/2010/main" val="2584723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6B86C87-94F2-B941-8117-C7B60E733D6F}" type="datetimeFigureOut">
              <a:rPr lang="en-US" smtClean="0"/>
              <a:t>4/17/26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B641BF37-3B5A-4A4E-8CF5-EFAB2AB22179}" type="slidenum">
              <a:rPr lang="en-US" smtClean="0"/>
              <a:t>‹#›</a:t>
            </a:fld>
            <a:endParaRPr lang="en-US"/>
          </a:p>
        </p:txBody>
      </p:sp>
    </p:spTree>
    <p:extLst>
      <p:ext uri="{BB962C8B-B14F-4D97-AF65-F5344CB8AC3E}">
        <p14:creationId xmlns:p14="http://schemas.microsoft.com/office/powerpoint/2010/main" val="1474139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6B86C87-94F2-B941-8117-C7B60E733D6F}" type="datetimeFigureOut">
              <a:rPr lang="en-US" smtClean="0"/>
              <a:t>4/17/26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41BF37-3B5A-4A4E-8CF5-EFAB2AB22179}" type="slidenum">
              <a:rPr lang="en-US" smtClean="0"/>
              <a:t>‹#›</a:t>
            </a:fld>
            <a:endParaRPr lang="en-US"/>
          </a:p>
        </p:txBody>
      </p:sp>
    </p:spTree>
    <p:extLst>
      <p:ext uri="{BB962C8B-B14F-4D97-AF65-F5344CB8AC3E}">
        <p14:creationId xmlns:p14="http://schemas.microsoft.com/office/powerpoint/2010/main" val="827191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6B86C87-94F2-B941-8117-C7B60E733D6F}" type="datetimeFigureOut">
              <a:rPr lang="en-US" smtClean="0"/>
              <a:t>4/17/26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41BF37-3B5A-4A4E-8CF5-EFAB2AB22179}" type="slidenum">
              <a:rPr lang="en-US" smtClean="0"/>
              <a:t>‹#›</a:t>
            </a:fld>
            <a:endParaRPr lang="en-US"/>
          </a:p>
        </p:txBody>
      </p:sp>
    </p:spTree>
    <p:extLst>
      <p:ext uri="{BB962C8B-B14F-4D97-AF65-F5344CB8AC3E}">
        <p14:creationId xmlns:p14="http://schemas.microsoft.com/office/powerpoint/2010/main" val="2893555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06B86C87-94F2-B941-8117-C7B60E733D6F}" type="datetimeFigureOut">
              <a:rPr lang="en-US" smtClean="0"/>
              <a:t>4/17/26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B641BF37-3B5A-4A4E-8CF5-EFAB2AB22179}" type="slidenum">
              <a:rPr lang="en-US" smtClean="0"/>
              <a:t>‹#›</a:t>
            </a:fld>
            <a:endParaRPr lang="en-US"/>
          </a:p>
        </p:txBody>
      </p:sp>
    </p:spTree>
    <p:extLst>
      <p:ext uri="{BB962C8B-B14F-4D97-AF65-F5344CB8AC3E}">
        <p14:creationId xmlns:p14="http://schemas.microsoft.com/office/powerpoint/2010/main" val="2477533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96000" y="1265662"/>
            <a:ext cx="5536387" cy="2163338"/>
          </a:xfrm>
        </p:spPr>
        <p:txBody>
          <a:bodyPr anchor="b">
            <a:normAutofit/>
          </a:bodyPr>
          <a:lstStyle/>
          <a:p>
            <a:pPr algn="l"/>
            <a:r>
              <a:rPr lang="en-US" dirty="0">
                <a:latin typeface="Calibri"/>
              </a:rPr>
              <a:t>Smart Home Automation &amp; Security System</a:t>
            </a:r>
          </a:p>
        </p:txBody>
      </p:sp>
      <p:sp>
        <p:nvSpPr>
          <p:cNvPr id="3" name="Subtitle 2"/>
          <p:cNvSpPr>
            <a:spLocks noGrp="1"/>
          </p:cNvSpPr>
          <p:nvPr>
            <p:ph type="subTitle" idx="1"/>
          </p:nvPr>
        </p:nvSpPr>
        <p:spPr>
          <a:xfrm>
            <a:off x="6096000" y="4184689"/>
            <a:ext cx="5617794" cy="1150937"/>
          </a:xfrm>
        </p:spPr>
        <p:txBody>
          <a:bodyPr anchor="t">
            <a:normAutofit/>
          </a:bodyPr>
          <a:lstStyle/>
          <a:p>
            <a:pPr algn="l"/>
            <a:r>
              <a:rPr lang="en-IN" sz="1100" dirty="0"/>
              <a:t>P NAGA VENKATA KUSHAL 23BDS0133</a:t>
            </a:r>
          </a:p>
          <a:p>
            <a:pPr algn="l"/>
            <a:r>
              <a:rPr lang="en-IN" sz="1100" dirty="0"/>
              <a:t>HARSHIT SAI KARANAM 23BCE0586</a:t>
            </a:r>
          </a:p>
          <a:p>
            <a:pPr algn="l"/>
            <a:r>
              <a:rPr lang="en-IN" sz="1100" dirty="0"/>
              <a:t>ASHWIN BOBBY VALLIYATHARAYIL 23BCE0610</a:t>
            </a:r>
          </a:p>
          <a:p>
            <a:pPr algn="l"/>
            <a:r>
              <a:rPr lang="en-IN" sz="1100" dirty="0"/>
              <a:t>ARNAV KUMAR 23BDS0044</a:t>
            </a:r>
          </a:p>
          <a:p>
            <a:pPr algn="l"/>
            <a:endParaRPr lang="en-IN" sz="1100" dirty="0">
              <a:latin typeface="Calibri"/>
            </a:endParaRPr>
          </a:p>
        </p:txBody>
      </p:sp>
      <p:pic>
        <p:nvPicPr>
          <p:cNvPr id="5" name="Picture 4" descr="A midsection of a person holding a miniature house">
            <a:extLst>
              <a:ext uri="{FF2B5EF4-FFF2-40B4-BE49-F238E27FC236}">
                <a16:creationId xmlns:a16="http://schemas.microsoft.com/office/drawing/2014/main" id="{4BD3CD2D-8F06-AAA4-2C05-57CC7C496BFE}"/>
              </a:ext>
            </a:extLst>
          </p:cNvPr>
          <p:cNvPicPr>
            <a:picLocks noChangeAspect="1"/>
          </p:cNvPicPr>
          <p:nvPr/>
        </p:nvPicPr>
        <p:blipFill>
          <a:blip r:embed="rId2"/>
          <a:srcRect l="26923" r="25253" b="-1"/>
          <a:stretch>
            <a:fillRect/>
          </a:stretch>
        </p:blipFill>
        <p:spPr>
          <a:xfrm>
            <a:off x="-1507" y="10"/>
            <a:ext cx="5205951" cy="6857990"/>
          </a:xfrm>
          <a:custGeom>
            <a:avLst/>
            <a:gdLst/>
            <a:ahLst/>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Problem Statement</a:t>
            </a:r>
          </a:p>
        </p:txBody>
      </p:sp>
      <p:sp>
        <p:nvSpPr>
          <p:cNvPr id="3" name="Content Placeholder 2"/>
          <p:cNvSpPr>
            <a:spLocks noGrp="1"/>
          </p:cNvSpPr>
          <p:nvPr>
            <p:ph idx="1"/>
          </p:nvPr>
        </p:nvSpPr>
        <p:spPr/>
        <p:txBody>
          <a:bodyPr/>
          <a:lstStyle/>
          <a:p>
            <a:r>
              <a:rPr sz="2000" dirty="0">
                <a:solidFill>
                  <a:srgbClr val="282828"/>
                </a:solidFill>
                <a:latin typeface="Calibri"/>
              </a:rPr>
              <a:t>Traditional home systems lack intelligent automation and real-time monitoring. Users cannot remotely control appliances or receive instant alerts about security threats. This creates inconvenience, energy inefficiency, and vulnerability to intrusions.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Objective</a:t>
            </a:r>
          </a:p>
        </p:txBody>
      </p:sp>
      <p:sp>
        <p:nvSpPr>
          <p:cNvPr id="3" name="Content Placeholder 2"/>
          <p:cNvSpPr>
            <a:spLocks noGrp="1"/>
          </p:cNvSpPr>
          <p:nvPr>
            <p:ph idx="1"/>
          </p:nvPr>
        </p:nvSpPr>
        <p:spPr/>
        <p:txBody>
          <a:bodyPr/>
          <a:lstStyle/>
          <a:p>
            <a:r>
              <a:rPr sz="2000" dirty="0">
                <a:solidFill>
                  <a:srgbClr val="282828"/>
                </a:solidFill>
                <a:latin typeface="Calibri"/>
              </a:rPr>
              <a:t>The main objective of this project is to design and implement a smart home system that allows users to control appliances remotely and detect suspicious activities using sensor-based intelligence, while providing real-time alerts.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Idea / Solution</a:t>
            </a:r>
          </a:p>
        </p:txBody>
      </p:sp>
      <p:sp>
        <p:nvSpPr>
          <p:cNvPr id="3" name="Content Placeholder 2"/>
          <p:cNvSpPr>
            <a:spLocks noGrp="1"/>
          </p:cNvSpPr>
          <p:nvPr>
            <p:ph idx="1"/>
          </p:nvPr>
        </p:nvSpPr>
        <p:spPr/>
        <p:txBody>
          <a:bodyPr>
            <a:normAutofit/>
          </a:bodyPr>
          <a:lstStyle/>
          <a:p>
            <a:r>
              <a:rPr lang="en-IN" dirty="0"/>
              <a:t>Our solution integrates an Arduino-based control system and a Python-based GUI interface. In addition to this, the system can be controlled via voice from the user’s mobile phone while in the vicinity of the system. The Arduino continuously monitors ambient sound levels, dynamically calibrates a baseline, and uses a spike-detection algorithm to identify suspicious patterns. When multiple abnormal sound spikes occur within a short time window, the system triggers an alarm by activating a buzzer and alert LEDs. Simultaneously, the Python application displays real-time system data, allows users to control lights in different rooms via relays, and sends instant Telegram notifications in case of intrusion.</a:t>
            </a:r>
            <a:endParaRPr sz="2000" dirty="0">
              <a:solidFill>
                <a:srgbClr val="282828"/>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System Overview</a:t>
            </a:r>
          </a:p>
        </p:txBody>
      </p:sp>
      <p:sp>
        <p:nvSpPr>
          <p:cNvPr id="3" name="Content Placeholder 2"/>
          <p:cNvSpPr>
            <a:spLocks noGrp="1"/>
          </p:cNvSpPr>
          <p:nvPr>
            <p:ph idx="1"/>
          </p:nvPr>
        </p:nvSpPr>
        <p:spPr/>
        <p:txBody>
          <a:bodyPr/>
          <a:lstStyle/>
          <a:p>
            <a:r>
              <a:rPr sz="2000">
                <a:solidFill>
                  <a:srgbClr val="282828"/>
                </a:solidFill>
                <a:latin typeface="Calibri"/>
              </a:rPr>
              <a:t>The system consists of a hardware layer (Arduino + sensors + relays) and a software layer (Python GUI + Telegram alerts). These components work together to provide seamless control, monitoring, and alerting.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Components Used</a:t>
            </a:r>
          </a:p>
        </p:txBody>
      </p:sp>
      <p:sp>
        <p:nvSpPr>
          <p:cNvPr id="3" name="Content Placeholder 2"/>
          <p:cNvSpPr>
            <a:spLocks noGrp="1"/>
          </p:cNvSpPr>
          <p:nvPr>
            <p:ph idx="1"/>
          </p:nvPr>
        </p:nvSpPr>
        <p:spPr>
          <a:xfrm>
            <a:off x="2231136" y="2286000"/>
            <a:ext cx="7729728" cy="4014439"/>
          </a:xfrm>
        </p:spPr>
        <p:txBody>
          <a:bodyPr>
            <a:normAutofit fontScale="85000" lnSpcReduction="20000"/>
          </a:bodyPr>
          <a:lstStyle/>
          <a:p>
            <a:r>
              <a:rPr lang="en-US" sz="2000" dirty="0">
                <a:solidFill>
                  <a:srgbClr val="282828"/>
                </a:solidFill>
                <a:latin typeface="Calibri"/>
              </a:rPr>
              <a:t>Arduino Uno R3</a:t>
            </a:r>
          </a:p>
          <a:p>
            <a:r>
              <a:rPr lang="en-US" sz="2000" dirty="0">
                <a:solidFill>
                  <a:srgbClr val="282828"/>
                </a:solidFill>
                <a:latin typeface="Calibri"/>
              </a:rPr>
              <a:t>HC-05 Bluetooth module</a:t>
            </a:r>
          </a:p>
          <a:p>
            <a:r>
              <a:rPr lang="en-US" sz="2000" dirty="0">
                <a:solidFill>
                  <a:srgbClr val="282828"/>
                </a:solidFill>
                <a:latin typeface="Calibri"/>
              </a:rPr>
              <a:t>KY-038 sound sensor</a:t>
            </a:r>
          </a:p>
          <a:p>
            <a:r>
              <a:rPr lang="en-US" sz="2000" dirty="0">
                <a:solidFill>
                  <a:srgbClr val="282828"/>
                </a:solidFill>
                <a:latin typeface="Calibri"/>
              </a:rPr>
              <a:t>LEDs</a:t>
            </a:r>
          </a:p>
          <a:p>
            <a:r>
              <a:rPr lang="en-US" sz="2000" dirty="0" err="1">
                <a:solidFill>
                  <a:srgbClr val="282828"/>
                </a:solidFill>
                <a:latin typeface="Calibri"/>
              </a:rPr>
              <a:t>kOhm</a:t>
            </a:r>
            <a:r>
              <a:rPr lang="en-US" sz="2000" dirty="0">
                <a:solidFill>
                  <a:srgbClr val="282828"/>
                </a:solidFill>
                <a:latin typeface="Calibri"/>
              </a:rPr>
              <a:t> resistors</a:t>
            </a:r>
          </a:p>
          <a:p>
            <a:r>
              <a:rPr lang="en-US" sz="2000" dirty="0">
                <a:solidFill>
                  <a:srgbClr val="282828"/>
                </a:solidFill>
                <a:latin typeface="Calibri"/>
              </a:rPr>
              <a:t>Jumper wires</a:t>
            </a:r>
          </a:p>
          <a:p>
            <a:r>
              <a:rPr lang="en-US" sz="2000" dirty="0">
                <a:solidFill>
                  <a:srgbClr val="282828"/>
                </a:solidFill>
                <a:latin typeface="Calibri"/>
              </a:rPr>
              <a:t>Breadboard</a:t>
            </a:r>
          </a:p>
          <a:p>
            <a:r>
              <a:rPr lang="en-US" sz="2000" dirty="0">
                <a:solidFill>
                  <a:srgbClr val="282828"/>
                </a:solidFill>
                <a:latin typeface="Calibri"/>
              </a:rPr>
              <a:t>9W bulbs</a:t>
            </a:r>
          </a:p>
          <a:p>
            <a:r>
              <a:rPr lang="en-US" sz="2000" dirty="0">
                <a:solidFill>
                  <a:srgbClr val="282828"/>
                </a:solidFill>
                <a:latin typeface="Calibri"/>
              </a:rPr>
              <a:t>2-channel relay module</a:t>
            </a:r>
          </a:p>
          <a:p>
            <a:r>
              <a:rPr lang="en-US" sz="2000" dirty="0">
                <a:solidFill>
                  <a:srgbClr val="282828"/>
                </a:solidFill>
                <a:latin typeface="Calibri"/>
              </a:rPr>
              <a:t>Buzzer</a:t>
            </a:r>
          </a:p>
          <a:p>
            <a:r>
              <a:rPr lang="en-US" sz="2000" dirty="0">
                <a:solidFill>
                  <a:srgbClr val="282828"/>
                </a:solidFill>
                <a:latin typeface="Calibri"/>
              </a:rPr>
              <a:t>Android phone</a:t>
            </a:r>
          </a:p>
          <a:p>
            <a:r>
              <a:rPr lang="en-US" sz="2000" dirty="0">
                <a:solidFill>
                  <a:srgbClr val="282828"/>
                </a:solidFill>
                <a:latin typeface="Calibri"/>
              </a:rPr>
              <a:t>Windows laptop for Python GUI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Hardware Details</a:t>
            </a:r>
          </a:p>
        </p:txBody>
      </p:sp>
      <p:sp>
        <p:nvSpPr>
          <p:cNvPr id="3" name="Content Placeholder 2"/>
          <p:cNvSpPr>
            <a:spLocks noGrp="1"/>
          </p:cNvSpPr>
          <p:nvPr>
            <p:ph idx="1"/>
          </p:nvPr>
        </p:nvSpPr>
        <p:spPr/>
        <p:txBody>
          <a:bodyPr/>
          <a:lstStyle/>
          <a:p>
            <a:r>
              <a:rPr lang="en-IN" sz="2000" dirty="0">
                <a:solidFill>
                  <a:srgbClr val="282828"/>
                </a:solidFill>
                <a:latin typeface="Calibri"/>
              </a:rPr>
              <a:t>Relays act as switches to control appliances. </a:t>
            </a:r>
          </a:p>
          <a:p>
            <a:r>
              <a:rPr lang="en-IN" sz="2000" dirty="0">
                <a:solidFill>
                  <a:srgbClr val="282828"/>
                </a:solidFill>
                <a:latin typeface="Calibri"/>
              </a:rPr>
              <a:t>The sound sensor detects environmental noise levels. </a:t>
            </a:r>
          </a:p>
          <a:p>
            <a:r>
              <a:rPr lang="en-IN" sz="2000" dirty="0">
                <a:solidFill>
                  <a:srgbClr val="282828"/>
                </a:solidFill>
                <a:latin typeface="Calibri"/>
              </a:rPr>
              <a:t>The buzzer provides audible alerts</a:t>
            </a:r>
          </a:p>
          <a:p>
            <a:r>
              <a:rPr lang="en-IN" sz="2000" dirty="0">
                <a:solidFill>
                  <a:srgbClr val="282828"/>
                </a:solidFill>
                <a:latin typeface="Calibri"/>
              </a:rPr>
              <a:t>LEDs indicate system status such as armed/disarmed states and whether bulbs are on or off.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Software Used</a:t>
            </a:r>
          </a:p>
        </p:txBody>
      </p:sp>
      <p:sp>
        <p:nvSpPr>
          <p:cNvPr id="3" name="Content Placeholder 2"/>
          <p:cNvSpPr>
            <a:spLocks noGrp="1"/>
          </p:cNvSpPr>
          <p:nvPr>
            <p:ph idx="1"/>
          </p:nvPr>
        </p:nvSpPr>
        <p:spPr/>
        <p:txBody>
          <a:bodyPr/>
          <a:lstStyle/>
          <a:p>
            <a:r>
              <a:rPr sz="2000" dirty="0">
                <a:solidFill>
                  <a:srgbClr val="282828"/>
                </a:solidFill>
                <a:latin typeface="Calibri"/>
              </a:rPr>
              <a:t>The system is developed using Arduino IDE for embedded programming and Python for GUI development.</a:t>
            </a:r>
            <a:endParaRPr lang="en-US" sz="2000" dirty="0">
              <a:solidFill>
                <a:srgbClr val="282828"/>
              </a:solidFill>
              <a:latin typeface="Calibri"/>
            </a:endParaRPr>
          </a:p>
          <a:p>
            <a:r>
              <a:rPr sz="2000" dirty="0">
                <a:solidFill>
                  <a:srgbClr val="282828"/>
                </a:solidFill>
                <a:latin typeface="Calibri"/>
              </a:rPr>
              <a:t>Additional libraries include </a:t>
            </a:r>
            <a:r>
              <a:rPr sz="2000" dirty="0" err="1">
                <a:solidFill>
                  <a:srgbClr val="282828"/>
                </a:solidFill>
                <a:latin typeface="Calibri"/>
              </a:rPr>
              <a:t>Tkinter</a:t>
            </a:r>
            <a:r>
              <a:rPr sz="2000" dirty="0">
                <a:solidFill>
                  <a:srgbClr val="282828"/>
                </a:solidFill>
                <a:latin typeface="Calibri"/>
              </a:rPr>
              <a:t> for interface design and Serial communication for data transfer.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472A3-F439-46F9-BE95-1817700F24AC}"/>
              </a:ext>
            </a:extLst>
          </p:cNvPr>
          <p:cNvSpPr>
            <a:spLocks noGrp="1"/>
          </p:cNvSpPr>
          <p:nvPr>
            <p:ph type="title"/>
          </p:nvPr>
        </p:nvSpPr>
        <p:spPr>
          <a:xfrm>
            <a:off x="838200" y="365126"/>
            <a:ext cx="10476581" cy="1341012"/>
          </a:xfrm>
        </p:spPr>
        <p:txBody>
          <a:bodyPr/>
          <a:lstStyle/>
          <a:p>
            <a:r>
              <a:rPr lang="en-US" dirty="0"/>
              <a:t>Tech stack</a:t>
            </a:r>
          </a:p>
        </p:txBody>
      </p:sp>
      <p:sp>
        <p:nvSpPr>
          <p:cNvPr id="29" name="Rectangle 23">
            <a:extLst>
              <a:ext uri="{FF2B5EF4-FFF2-40B4-BE49-F238E27FC236}">
                <a16:creationId xmlns:a16="http://schemas.microsoft.com/office/drawing/2014/main" id="{BC0C3EE8-46E1-4258-F2BC-FDCAF24FE5A3}"/>
              </a:ext>
            </a:extLst>
          </p:cNvPr>
          <p:cNvSpPr>
            <a:spLocks noChangeArrowheads="1"/>
          </p:cNvSpPr>
          <p:nvPr/>
        </p:nvSpPr>
        <p:spPr bwMode="auto">
          <a:xfrm>
            <a:off x="838199" y="1960609"/>
            <a:ext cx="1070331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The tech stack of this project combines embedded systems and software development to create a complete smart security solution. Embedded C is used to program the Arduino, where all core functionalities such as sound sensing, baseline calibration, spike detection logic, and control of relays, buzzer, and LEDs are implemented.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On the software side, Python is used to develop a desktop application with a </a:t>
            </a:r>
            <a:r>
              <a:rPr kumimoji="0" lang="en-US" altLang="en-US" sz="2000" b="0" i="0" u="none" strike="noStrike" cap="none" normalizeH="0" baseline="0" dirty="0" err="1">
                <a:ln>
                  <a:noFill/>
                </a:ln>
                <a:effectLst/>
                <a:latin typeface="Calibri" panose="020F0502020204030204" pitchFamily="34" charset="0"/>
                <a:cs typeface="Calibri" panose="020F0502020204030204" pitchFamily="34" charset="0"/>
              </a:rPr>
              <a:t>Tkinter</a:t>
            </a: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-based GUI, which provides real-time monitoring and user control of the system. Communication between the Arduino and the Python application is achieved through serial communication over USB, enabling continuous data exchange and command transmission.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Additionally, the system integrates the Telegram Bot API using HTTP requests in Python, allowing it to send instant intrusion alerts to the user’s mobile device. This combination of hardware-level programming, real-time communication, and cloud-based notification services makes the system both responsive and user-friendly</a:t>
            </a:r>
            <a:r>
              <a:rPr kumimoji="0" lang="en-US" altLang="en-US" sz="1800" b="0" i="0" u="none" strike="noStrike" cap="none" normalizeH="0" baseline="0" dirty="0">
                <a:ln>
                  <a:noFill/>
                </a:ln>
                <a:effectLst/>
                <a:latin typeface="Arial" panose="020B0604020202020204" pitchFamily="34" charset="0"/>
              </a:rPr>
              <a:t>.</a:t>
            </a:r>
          </a:p>
        </p:txBody>
      </p:sp>
    </p:spTree>
    <p:extLst>
      <p:ext uri="{BB962C8B-B14F-4D97-AF65-F5344CB8AC3E}">
        <p14:creationId xmlns:p14="http://schemas.microsoft.com/office/powerpoint/2010/main" val="4290032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Arduino Role</a:t>
            </a:r>
          </a:p>
        </p:txBody>
      </p:sp>
      <p:sp>
        <p:nvSpPr>
          <p:cNvPr id="3" name="Content Placeholder 2"/>
          <p:cNvSpPr>
            <a:spLocks noGrp="1"/>
          </p:cNvSpPr>
          <p:nvPr>
            <p:ph idx="1"/>
          </p:nvPr>
        </p:nvSpPr>
        <p:spPr/>
        <p:txBody>
          <a:bodyPr/>
          <a:lstStyle/>
          <a:p>
            <a:r>
              <a:rPr sz="2000">
                <a:solidFill>
                  <a:srgbClr val="282828"/>
                </a:solidFill>
                <a:latin typeface="Calibri"/>
              </a:rPr>
              <a:t>Arduino acts as the brain of the hardware system. It continuously reads sensor inputs, processes data, executes decision logic, and controls outputs such as relays, buzzer, and LEDs.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Python Role</a:t>
            </a:r>
          </a:p>
        </p:txBody>
      </p:sp>
      <p:sp>
        <p:nvSpPr>
          <p:cNvPr id="3" name="Content Placeholder 2"/>
          <p:cNvSpPr>
            <a:spLocks noGrp="1"/>
          </p:cNvSpPr>
          <p:nvPr>
            <p:ph idx="1"/>
          </p:nvPr>
        </p:nvSpPr>
        <p:spPr/>
        <p:txBody>
          <a:bodyPr/>
          <a:lstStyle/>
          <a:p>
            <a:r>
              <a:rPr sz="2000">
                <a:solidFill>
                  <a:srgbClr val="282828"/>
                </a:solidFill>
                <a:latin typeface="Calibri"/>
              </a:rPr>
              <a:t>The Python application provides a user-friendly interface to monitor system status, control devices, and receive alerts. It also logs events and communicates with Arduino via serial connection.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Communication</a:t>
            </a:r>
          </a:p>
        </p:txBody>
      </p:sp>
      <p:sp>
        <p:nvSpPr>
          <p:cNvPr id="6" name="TextBox 5">
            <a:extLst>
              <a:ext uri="{FF2B5EF4-FFF2-40B4-BE49-F238E27FC236}">
                <a16:creationId xmlns:a16="http://schemas.microsoft.com/office/drawing/2014/main" id="{60D5152B-1AFC-AC35-8B39-B8A1E0A5B279}"/>
              </a:ext>
            </a:extLst>
          </p:cNvPr>
          <p:cNvSpPr txBox="1"/>
          <p:nvPr/>
        </p:nvSpPr>
        <p:spPr>
          <a:xfrm>
            <a:off x="2152184" y="2274849"/>
            <a:ext cx="8820616" cy="4955203"/>
          </a:xfrm>
          <a:prstGeom prst="rect">
            <a:avLst/>
          </a:prstGeom>
          <a:noFill/>
        </p:spPr>
        <p:txBody>
          <a:bodyPr wrap="square" rtlCol="0">
            <a:spAutoFit/>
          </a:bodyPr>
          <a:lstStyle/>
          <a:p>
            <a:pPr eaLnBrk="0" fontAlgn="base" hangingPunct="0">
              <a:spcBef>
                <a:spcPct val="0"/>
              </a:spcBef>
              <a:spcAft>
                <a:spcPct val="0"/>
              </a:spcAft>
            </a:pPr>
            <a:r>
              <a:rPr lang="en-US" altLang="en-US" sz="1600" dirty="0">
                <a:latin typeface="Arial" panose="020B0604020202020204" pitchFamily="34" charset="0"/>
              </a:rPr>
              <a:t>The communication in this system is designed to ensure reliable, real-time interaction between hardware and software components. The primary mode of communication is serial communication over USB between the Arduino and the Python application running on the computer. The Arduino continuously sends structured data (such as sound level, baseline value, alarm status, relay states, and system state) through the serial port, which the Python program reads, parses, and displays on the GUI in real time.</a:t>
            </a:r>
          </a:p>
          <a:p>
            <a:pPr eaLnBrk="0" fontAlgn="base" hangingPunct="0">
              <a:spcBef>
                <a:spcPct val="0"/>
              </a:spcBef>
              <a:spcAft>
                <a:spcPct val="0"/>
              </a:spcAft>
            </a:pPr>
            <a:r>
              <a:rPr lang="en-US" altLang="en-US" sz="1600" dirty="0">
                <a:latin typeface="Arial" panose="020B0604020202020204" pitchFamily="34" charset="0"/>
              </a:rPr>
              <a:t>In addition to receiving data, the Python application also sends control commands back to the Arduino via the same serial connection. These commands allow the user to arm or disarm the security system, control lights in different rooms, and stop the alarm when needed. The communication is bidirectional, ensuring seamless synchronization between the hardware and the user interface.</a:t>
            </a:r>
          </a:p>
          <a:p>
            <a:pPr eaLnBrk="0" fontAlgn="base" hangingPunct="0">
              <a:spcBef>
                <a:spcPct val="0"/>
              </a:spcBef>
              <a:spcAft>
                <a:spcPct val="0"/>
              </a:spcAft>
            </a:pPr>
            <a:r>
              <a:rPr lang="en-US" altLang="en-US" sz="1600" dirty="0">
                <a:latin typeface="Arial" panose="020B0604020202020204" pitchFamily="34" charset="0"/>
              </a:rPr>
              <a:t>Furthermore, a Bluetooth module connected to the Arduino provides an alternative wireless communication channel. This allows users to send voice or text-based commands from a mobile device, making the system more flexible and user-friendly.</a:t>
            </a:r>
          </a:p>
          <a:p>
            <a:pPr eaLnBrk="0" fontAlgn="base" hangingPunct="0">
              <a:spcBef>
                <a:spcPct val="0"/>
              </a:spcBef>
              <a:spcAft>
                <a:spcPct val="0"/>
              </a:spcAft>
            </a:pPr>
            <a:r>
              <a:rPr lang="en-US" altLang="en-US" sz="1600" dirty="0">
                <a:latin typeface="Arial" panose="020B0604020202020204" pitchFamily="34" charset="0"/>
              </a:rPr>
              <a:t>Finally, for remote alerting, the Python application communicates with the Telegram Bot AI over the internet using HTTP requests. When an intrusion is detected, the system instantly sends a notification message to the user’s Telegram account, enabling real-time monitoring even when the user is away from the system.</a:t>
            </a:r>
          </a:p>
          <a:p>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Smart Detection Logic</a:t>
            </a:r>
          </a:p>
        </p:txBody>
      </p:sp>
      <p:sp>
        <p:nvSpPr>
          <p:cNvPr id="3" name="Content Placeholder 2"/>
          <p:cNvSpPr>
            <a:spLocks noGrp="1"/>
          </p:cNvSpPr>
          <p:nvPr>
            <p:ph idx="1"/>
          </p:nvPr>
        </p:nvSpPr>
        <p:spPr>
          <a:xfrm>
            <a:off x="2084832" y="2316480"/>
            <a:ext cx="8125968" cy="3961658"/>
          </a:xfrm>
        </p:spPr>
        <p:txBody>
          <a:bodyPr>
            <a:noAutofit/>
          </a:bodyPr>
          <a:lstStyle/>
          <a:p>
            <a:r>
              <a:rPr lang="en-IN" sz="1400" dirty="0"/>
              <a:t>The smart detection logic in this system is designed to accurately identify suspicious activity while minimizing false alarms. Instead of triggering an alert based on a single sudden noise, the system first establishes a baseline sound level during calibration, which represents the normal ambient environment. This baseline is continuously updated using a weighted averaging method to adapt to gradual changes in background noise.</a:t>
            </a:r>
          </a:p>
          <a:p>
            <a:r>
              <a:rPr lang="en-IN" sz="1400" dirty="0"/>
              <a:t>When the system is armed, it continuously reads sound values from the sensor and compares them with the baseline. If the difference exceeds a predefined threshold (spike margin), it is considered a potential spike. However, to avoid false triggers caused by random noises such as small disturbances or background sounds, the system does not immediately activate the alarm.</a:t>
            </a:r>
          </a:p>
          <a:p>
            <a:r>
              <a:rPr lang="en-IN" sz="1400" dirty="0"/>
              <a:t>Instead, it uses a time-based spike counting mechanism. If multiple spikes (for example, three or more) occur within a short time window (such as 2 seconds), the system interprets this pattern as suspicious activity. Only then is the alarm triggered. This approach ensures that the system responds to consistent abnormal patterns rather than isolated noise events.</a:t>
            </a:r>
          </a:p>
          <a:p>
            <a:r>
              <a:rPr lang="en-IN" sz="1400" dirty="0"/>
              <a:t>Once the threshold condition is met, the system activates the buzzer and alert LED, updates the GUI to reflect the alarm state, and sends a real-time notification via Telegram. This intelligent logic significantly improves reliability and makes the system more practical for real-world environments.</a:t>
            </a:r>
          </a:p>
          <a:p>
            <a:endParaRPr sz="300" dirty="0">
              <a:solidFill>
                <a:srgbClr val="282828"/>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Working - Initialization</a:t>
            </a:r>
          </a:p>
        </p:txBody>
      </p:sp>
      <p:sp>
        <p:nvSpPr>
          <p:cNvPr id="3" name="Content Placeholder 2"/>
          <p:cNvSpPr>
            <a:spLocks noGrp="1"/>
          </p:cNvSpPr>
          <p:nvPr>
            <p:ph idx="1"/>
          </p:nvPr>
        </p:nvSpPr>
        <p:spPr/>
        <p:txBody>
          <a:bodyPr/>
          <a:lstStyle/>
          <a:p>
            <a:r>
              <a:rPr sz="2000">
                <a:solidFill>
                  <a:srgbClr val="282828"/>
                </a:solidFill>
                <a:latin typeface="Calibri"/>
              </a:rPr>
              <a:t>When the system starts, it initializes all components and calibrates the baseline sound level to adapt to the surrounding environment.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Working - Arming System</a:t>
            </a:r>
          </a:p>
        </p:txBody>
      </p:sp>
      <p:sp>
        <p:nvSpPr>
          <p:cNvPr id="3" name="Content Placeholder 2"/>
          <p:cNvSpPr>
            <a:spLocks noGrp="1"/>
          </p:cNvSpPr>
          <p:nvPr>
            <p:ph idx="1"/>
          </p:nvPr>
        </p:nvSpPr>
        <p:spPr/>
        <p:txBody>
          <a:bodyPr/>
          <a:lstStyle/>
          <a:p>
            <a:r>
              <a:rPr sz="2000">
                <a:solidFill>
                  <a:srgbClr val="282828"/>
                </a:solidFill>
                <a:latin typeface="Calibri"/>
              </a:rPr>
              <a:t>The user can arm the system using the GUI or Bluetooth commands. Once armed, the system begins active monitoring.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Working - Monitoring</a:t>
            </a:r>
          </a:p>
        </p:txBody>
      </p:sp>
      <p:sp>
        <p:nvSpPr>
          <p:cNvPr id="3" name="Content Placeholder 2"/>
          <p:cNvSpPr>
            <a:spLocks noGrp="1"/>
          </p:cNvSpPr>
          <p:nvPr>
            <p:ph idx="1"/>
          </p:nvPr>
        </p:nvSpPr>
        <p:spPr/>
        <p:txBody>
          <a:bodyPr/>
          <a:lstStyle/>
          <a:p>
            <a:r>
              <a:rPr sz="2000">
                <a:solidFill>
                  <a:srgbClr val="282828"/>
                </a:solidFill>
                <a:latin typeface="Calibri"/>
              </a:rPr>
              <a:t>The sound sensor continuously captures data, which is processed and compared with the baseline to detect variations.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Working - Detection</a:t>
            </a:r>
          </a:p>
        </p:txBody>
      </p:sp>
      <p:sp>
        <p:nvSpPr>
          <p:cNvPr id="3" name="Content Placeholder 2"/>
          <p:cNvSpPr>
            <a:spLocks noGrp="1"/>
          </p:cNvSpPr>
          <p:nvPr>
            <p:ph idx="1"/>
          </p:nvPr>
        </p:nvSpPr>
        <p:spPr/>
        <p:txBody>
          <a:bodyPr/>
          <a:lstStyle/>
          <a:p>
            <a:r>
              <a:rPr sz="2000">
                <a:solidFill>
                  <a:srgbClr val="282828"/>
                </a:solidFill>
                <a:latin typeface="Calibri"/>
              </a:rPr>
              <a:t>If multiple abnormal sound spikes are detected within a short duration, the system identifies it as a potential intrusion.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Working - Alert Mechanism</a:t>
            </a:r>
          </a:p>
        </p:txBody>
      </p:sp>
      <p:sp>
        <p:nvSpPr>
          <p:cNvPr id="3" name="Content Placeholder 2"/>
          <p:cNvSpPr>
            <a:spLocks noGrp="1"/>
          </p:cNvSpPr>
          <p:nvPr>
            <p:ph idx="1"/>
          </p:nvPr>
        </p:nvSpPr>
        <p:spPr/>
        <p:txBody>
          <a:bodyPr/>
          <a:lstStyle/>
          <a:p>
            <a:r>
              <a:rPr sz="2000">
                <a:solidFill>
                  <a:srgbClr val="282828"/>
                </a:solidFill>
                <a:latin typeface="Calibri"/>
              </a:rPr>
              <a:t>Upon detection, the system activates the buzzer, turns on alert LEDs, updates the GUI, and sends a Telegram notification.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Circuit Diagram</a:t>
            </a:r>
          </a:p>
        </p:txBody>
      </p:sp>
      <p:pic>
        <p:nvPicPr>
          <p:cNvPr id="5122" name="Picture 2">
            <a:extLst>
              <a:ext uri="{FF2B5EF4-FFF2-40B4-BE49-F238E27FC236}">
                <a16:creationId xmlns:a16="http://schemas.microsoft.com/office/drawing/2014/main" id="{DA1DF11E-F2FC-3FC0-A511-63EB7FEBD3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004" y="2275332"/>
            <a:ext cx="7135368" cy="44409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282828"/>
                </a:solidFill>
                <a:latin typeface="Calibri"/>
              </a:rPr>
              <a:t>Conclusion</a:t>
            </a:r>
          </a:p>
        </p:txBody>
      </p:sp>
      <p:sp>
        <p:nvSpPr>
          <p:cNvPr id="3" name="Content Placeholder 2"/>
          <p:cNvSpPr>
            <a:spLocks noGrp="1"/>
          </p:cNvSpPr>
          <p:nvPr>
            <p:ph idx="1"/>
          </p:nvPr>
        </p:nvSpPr>
        <p:spPr/>
        <p:txBody>
          <a:bodyPr/>
          <a:lstStyle/>
          <a:p>
            <a:r>
              <a:rPr sz="2000">
                <a:solidFill>
                  <a:srgbClr val="282828"/>
                </a:solidFill>
                <a:latin typeface="Calibri"/>
              </a:rPr>
              <a:t>This project demonstrates an effective and affordable smart home automation and security system. It enhances convenience, improves safety, and showcases the power of integrating hardware with software solutions.</a:t>
            </a: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28</TotalTime>
  <Words>1248</Words>
  <Application>Microsoft Macintosh PowerPoint</Application>
  <PresentationFormat>Widescreen</PresentationFormat>
  <Paragraphs>65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Gill Sans MT</vt:lpstr>
      <vt:lpstr>Parcel</vt:lpstr>
      <vt:lpstr>Smart Home Automation &amp; Security System</vt:lpstr>
      <vt:lpstr>Problem Statement</vt:lpstr>
      <vt:lpstr>Objective</vt:lpstr>
      <vt:lpstr>Idea / Solution</vt:lpstr>
      <vt:lpstr>System Overview</vt:lpstr>
      <vt:lpstr>Components Used</vt:lpstr>
      <vt:lpstr>Hardware Details</vt:lpstr>
      <vt:lpstr>Software Used</vt:lpstr>
      <vt:lpstr>Tech stack</vt:lpstr>
      <vt:lpstr>Arduino Role</vt:lpstr>
      <vt:lpstr>Python Role</vt:lpstr>
      <vt:lpstr>Communication</vt:lpstr>
      <vt:lpstr>Smart Detection Logic</vt:lpstr>
      <vt:lpstr>Working - Initialization</vt:lpstr>
      <vt:lpstr>Working - Arming System</vt:lpstr>
      <vt:lpstr>Working - Monitoring</vt:lpstr>
      <vt:lpstr>Working - Detection</vt:lpstr>
      <vt:lpstr>Working - Alert Mechanism</vt:lpstr>
      <vt:lpstr>Circuit Diagram</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 Bobby Valliyatharayil</dc:creator>
  <cp:lastModifiedBy>Ashwin Bobby Valliyatharayil</cp:lastModifiedBy>
  <cp:revision>1</cp:revision>
  <dcterms:created xsi:type="dcterms:W3CDTF">2026-04-17T16:45:32Z</dcterms:created>
  <dcterms:modified xsi:type="dcterms:W3CDTF">2026-04-17T17:14:16Z</dcterms:modified>
</cp:coreProperties>
</file>